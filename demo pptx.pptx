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7"/>
    <p:restoredTop sz="95986" autoAdjust="0"/>
  </p:normalViewPr>
  <p:slideViewPr>
    <p:cSldViewPr snapToGrid="0" snapToObjects="1">
      <p:cViewPr>
        <p:scale>
          <a:sx n="130" d="100"/>
          <a:sy n="130" d="100"/>
        </p:scale>
        <p:origin x="166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086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4E9F2-6D03-D021-A9CE-76AED7FF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EFE8D-685B-12C9-8E93-0F16AA9EB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E164B-A97F-3C84-7A27-034503A48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268F5-C1F8-B531-B13A-350E290C6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53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984C0E1-E62D-01EB-5E8D-FB869DC1859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DA95442-0196-DD0B-8E78-AE5B25E09F4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70569" y="1396452"/>
            <a:ext cx="1375814" cy="95868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AB1D708-F55B-0366-C3DB-2B92DFAD2EA2}"/>
              </a:ext>
            </a:extLst>
          </p:cNvPr>
          <p:cNvSpPr/>
          <p:nvPr/>
        </p:nvSpPr>
        <p:spPr>
          <a:xfrm>
            <a:off x="1170109" y="2534776"/>
            <a:ext cx="6803787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dirty="0">
                <a:solidFill>
                  <a:srgbClr val="E8EDF5"/>
                </a:solidFill>
              </a:rPr>
              <a:t>Real-Time VOIP Deepfake Detection and Authenticity Verification System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AB61A3C-603F-7697-699C-CF4C48343425}"/>
              </a:ext>
            </a:extLst>
          </p:cNvPr>
          <p:cNvSpPr/>
          <p:nvPr/>
        </p:nvSpPr>
        <p:spPr>
          <a:xfrm>
            <a:off x="2680106" y="3478541"/>
            <a:ext cx="3783788" cy="52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Team Members:</a:t>
            </a:r>
            <a:r>
              <a:rPr lang="en-US" sz="1050" dirty="0">
                <a:solidFill>
                  <a:srgbClr val="E8EDF5"/>
                </a:solidFill>
              </a:rPr>
              <a:t>
 Ahmed Sarhan • Mohamed Ghazi • Yousef Kanjo • Aws Diab • Mohammed Atwani</a:t>
            </a:r>
            <a:endParaRPr lang="en-US" sz="10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01DB262-914F-092C-3591-C6201C9246AD}"/>
              </a:ext>
            </a:extLst>
          </p:cNvPr>
          <p:cNvSpPr/>
          <p:nvPr/>
        </p:nvSpPr>
        <p:spPr>
          <a:xfrm>
            <a:off x="3756074" y="4107796"/>
            <a:ext cx="163185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B84FFF"/>
                </a:solidFill>
              </a:rPr>
              <a:t>Supervisor:</a:t>
            </a:r>
            <a:r>
              <a:rPr lang="en-US" sz="1050" dirty="0">
                <a:solidFill>
                  <a:srgbClr val="B84FFF"/>
                </a:solidFill>
              </a:rPr>
              <a:t> Dr. Mai El Barachi</a:t>
            </a:r>
            <a:endParaRPr lang="en-US" sz="10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2FD7DC2-D3B9-ED04-A83C-FB902A9157F7}"/>
              </a:ext>
            </a:extLst>
          </p:cNvPr>
          <p:cNvSpPr/>
          <p:nvPr/>
        </p:nvSpPr>
        <p:spPr>
          <a:xfrm>
            <a:off x="2383105" y="4366757"/>
            <a:ext cx="437780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0FF88"/>
                </a:solidFill>
              </a:rPr>
              <a:t>Capstone Project • Faculty of Engineering • University of Wollongong Dubai• 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60882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6137258" cy="364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0D4FF"/>
                </a:solidFill>
              </a:rPr>
              <a:t>The Trust Crisis in Virtual Communication</a:t>
            </a:r>
            <a:endParaRPr lang="en-US" sz="2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2913" y="1137642"/>
            <a:ext cx="3857625" cy="2857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14875" y="1159966"/>
            <a:ext cx="200025" cy="2000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022056" y="1162596"/>
            <a:ext cx="1192058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4714875" y="1539478"/>
            <a:ext cx="4000500" cy="672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GANs and diffusion models now produce audio and video forgeries that are nearly indistinguishable from real recordings, enabling sophisticated identity fraud and impersonation.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14875" y="2919115"/>
            <a:ext cx="200025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022056" y="2897299"/>
            <a:ext cx="703719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The Gap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714875" y="3298627"/>
            <a:ext cx="4000500" cy="672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Most VOIP platforms lack integrated, real-time detection and provenance signals, leaving meetings exposed to misinformation and unauthorized access during critical sessions.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6310638" cy="377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00D4FF"/>
                </a:solidFill>
              </a:rPr>
              <a:t>The Escalating Risk: Economic Impact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085998" y="1123355"/>
            <a:ext cx="1447512" cy="633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800" b="1" dirty="0">
                <a:solidFill>
                  <a:srgbClr val="00D4FF"/>
                </a:solidFill>
              </a:rPr>
              <a:t>$2.7B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210232" y="1894880"/>
            <a:ext cx="119904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Annual Losses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78714" y="1123355"/>
            <a:ext cx="1386598" cy="633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800" b="1" dirty="0">
                <a:solidFill>
                  <a:srgbClr val="00D4FF"/>
                </a:solidFill>
              </a:rPr>
              <a:t>300%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954954" y="1894880"/>
            <a:ext cx="1234120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Attack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90105" y="1123355"/>
            <a:ext cx="1888338" cy="633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800" b="1" dirty="0">
                <a:solidFill>
                  <a:srgbClr val="00D4FF"/>
                </a:solidFill>
              </a:rPr>
              <a:t>60-75%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724684" y="1894880"/>
            <a:ext cx="121918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Detection Gap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8625" y="2686050"/>
            <a:ext cx="4000500" cy="12656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2E8F0"/>
                </a:solidFill>
              </a:rPr>
              <a:t>The financial and security implications are staggering. With current detection methods failing to keep pace, organizations across finance, legal, and government sectors face an urgent need for robust, real-time verification.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22019" y="2421731"/>
            <a:ext cx="3857625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73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00D4FF"/>
                </a:solidFill>
              </a:rPr>
              <a:t>RealSync Delivers Real-Time Multi-Modal Verification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28625" y="1158335"/>
            <a:ext cx="4036219" cy="1800225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2800"/>
          </a:p>
        </p:txBody>
      </p:sp>
      <p:sp>
        <p:nvSpPr>
          <p:cNvPr id="5" name="Text 2"/>
          <p:cNvSpPr/>
          <p:nvPr/>
        </p:nvSpPr>
        <p:spPr>
          <a:xfrm>
            <a:off x="642938" y="1246488"/>
            <a:ext cx="365485" cy="325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0D4FF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80046" y="1274895"/>
            <a:ext cx="1331455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Stream Capture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057650" y="1247427"/>
            <a:ext cx="19288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1651049"/>
            <a:ext cx="3607594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Securely intercepts live audio and video streams from VOIP platforms via a local companion application.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79156" y="1158335"/>
            <a:ext cx="4036219" cy="1800225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2800"/>
          </a:p>
        </p:txBody>
      </p:sp>
      <p:sp>
        <p:nvSpPr>
          <p:cNvPr id="10" name="Text 6"/>
          <p:cNvSpPr/>
          <p:nvPr/>
        </p:nvSpPr>
        <p:spPr>
          <a:xfrm>
            <a:off x="4893469" y="1246488"/>
            <a:ext cx="365485" cy="325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0D4FF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5330577" y="1274895"/>
            <a:ext cx="1816523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Multi-Modal Analysis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29613" y="1247427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3469" y="1651049"/>
            <a:ext cx="3607594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Simultaneously processes streams through specialized AI engines for audio, video, and behavioral analysis.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28625" y="2958355"/>
            <a:ext cx="4036219" cy="1800225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2800"/>
          </a:p>
        </p:txBody>
      </p:sp>
      <p:sp>
        <p:nvSpPr>
          <p:cNvPr id="15" name="Text 10"/>
          <p:cNvSpPr/>
          <p:nvPr/>
        </p:nvSpPr>
        <p:spPr>
          <a:xfrm>
            <a:off x="642938" y="3172668"/>
            <a:ext cx="365485" cy="325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0D4FF"/>
                </a:solidFill>
              </a:rPr>
              <a:t>03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1080046" y="3230711"/>
            <a:ext cx="1543564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Trust Score Fusion</a:t>
            </a:r>
            <a:endParaRPr lang="en-US" sz="16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057650" y="3261965"/>
            <a:ext cx="192881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2938" y="3665587"/>
            <a:ext cx="3607594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Fuses engine outputs into a unified authenticity score (0-100) using a weighted algorithm.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79156" y="2958355"/>
            <a:ext cx="4036219" cy="1800225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2800"/>
          </a:p>
        </p:txBody>
      </p:sp>
      <p:sp>
        <p:nvSpPr>
          <p:cNvPr id="20" name="Text 14"/>
          <p:cNvSpPr/>
          <p:nvPr/>
        </p:nvSpPr>
        <p:spPr>
          <a:xfrm>
            <a:off x="4893469" y="3158380"/>
            <a:ext cx="365485" cy="325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0D4FF"/>
                </a:solidFill>
              </a:rPr>
              <a:t>04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5330577" y="3216423"/>
            <a:ext cx="139801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Real-Time Alerts</a:t>
            </a:r>
            <a:endParaRPr lang="en-US" sz="16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51044" y="3247677"/>
            <a:ext cx="150019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93469" y="3651299"/>
            <a:ext cx="3607594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Instantly notifies users of detected anomalies with minimal latency targeted at (&lt;500ms) during active meetings.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7922810" cy="377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00D4FF"/>
                </a:solidFill>
              </a:rPr>
              <a:t>Comprehensive Detection &amp; Privacy Assurance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8625" y="1280517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3706" y="1280517"/>
            <a:ext cx="1950149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Multi-Modal Detection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28625" y="1611809"/>
            <a:ext cx="2500313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Simultaneous analysis of audio cloning, facial artifacts, and emotional consistency for a multi-layered defense.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00400" y="1109067"/>
            <a:ext cx="2743200" cy="27432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215063" y="1280517"/>
            <a:ext cx="128588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50806" y="1280517"/>
            <a:ext cx="139801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Real-Time Alerts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6215063" y="1611809"/>
            <a:ext cx="2500313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Ultra-low latency processing (&lt;500ms) ensures threats are flagged instantly on the user dashboard.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8625" y="2816423"/>
            <a:ext cx="214313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0094" y="2785170"/>
            <a:ext cx="1570302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Privacy-Preserving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28625" y="3147715"/>
            <a:ext cx="2500313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GDPR and CCPA compliant architecture. All analysis occurs on encrypted cloud servers with no raw data leakage.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215063" y="2816423"/>
            <a:ext cx="128588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50806" y="2816423"/>
            <a:ext cx="1673150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Reports &amp; Analytics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6215063" y="3147715"/>
            <a:ext cx="2500313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AI-driven authenticity reports provide detailed confidence scores and audit logs for forensic verification.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4893968" cy="364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0D4FF"/>
                </a:solidFill>
              </a:rPr>
              <a:t>RealSync Competitive Advantage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28625" y="909042"/>
            <a:ext cx="1079181" cy="42148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5" name="Text 2"/>
          <p:cNvSpPr/>
          <p:nvPr/>
        </p:nvSpPr>
        <p:spPr>
          <a:xfrm>
            <a:off x="428625" y="965734"/>
            <a:ext cx="1079181" cy="30809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kern="0" spc="1" dirty="0">
                <a:solidFill>
                  <a:srgbClr val="FFFFFF"/>
                </a:solidFill>
              </a:rPr>
              <a:t>Competitor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507806" y="909042"/>
            <a:ext cx="1103542" cy="42148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7" name="Text 4"/>
          <p:cNvSpPr/>
          <p:nvPr/>
        </p:nvSpPr>
        <p:spPr>
          <a:xfrm>
            <a:off x="1507806" y="965734"/>
            <a:ext cx="1103542" cy="30809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kern="0" spc="1" dirty="0">
                <a:solidFill>
                  <a:srgbClr val="FFFFFF"/>
                </a:solidFill>
              </a:rPr>
              <a:t>Primary Focus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611348" y="909042"/>
            <a:ext cx="1322766" cy="42148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9" name="Text 6"/>
          <p:cNvSpPr/>
          <p:nvPr/>
        </p:nvSpPr>
        <p:spPr>
          <a:xfrm>
            <a:off x="2611348" y="965734"/>
            <a:ext cx="1322766" cy="30809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kern="0" spc="1" dirty="0">
                <a:solidFill>
                  <a:srgbClr val="FFFFFF"/>
                </a:solidFill>
              </a:rPr>
              <a:t>Limitation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34113" y="909042"/>
            <a:ext cx="1904702" cy="42148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11" name="Text 8"/>
          <p:cNvSpPr/>
          <p:nvPr/>
        </p:nvSpPr>
        <p:spPr>
          <a:xfrm>
            <a:off x="3934113" y="965734"/>
            <a:ext cx="1904702" cy="30809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kern="0" spc="1" dirty="0">
                <a:solidFill>
                  <a:srgbClr val="FFFFFF"/>
                </a:solidFill>
              </a:rPr>
              <a:t>RealSync Differentiator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8625" y="1478393"/>
            <a:ext cx="1079181" cy="33073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Sensity AI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07806" y="1396736"/>
            <a:ext cx="1103542" cy="49404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Video Deepfake Detection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11348" y="1313381"/>
            <a:ext cx="1322766" cy="66075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No VOIP integration; primarily video analysis only.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34113" y="1396736"/>
            <a:ext cx="1904702" cy="49404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Real-Time VOIP Integration + Multi-Modal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8625" y="1956997"/>
            <a:ext cx="5410191" cy="630045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17" name="Text 14"/>
          <p:cNvSpPr/>
          <p:nvPr/>
        </p:nvSpPr>
        <p:spPr>
          <a:xfrm>
            <a:off x="428625" y="2024996"/>
            <a:ext cx="1079181" cy="49404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Microsoft Authenticator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507806" y="2024996"/>
            <a:ext cx="1103542" cy="49404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Video/Image Authentication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11348" y="1941641"/>
            <a:ext cx="1322766" cy="66075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Offline analysis only; cannot operate in real-time.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934113" y="2024996"/>
            <a:ext cx="1904702" cy="49404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Live Operation with minimal latency (&lt;500ms)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28625" y="2733347"/>
            <a:ext cx="1079181" cy="4974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Deepware Scanner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507806" y="2735046"/>
            <a:ext cx="1103542" cy="49404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General Deepfake Detection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611348" y="2566635"/>
            <a:ext cx="1322766" cy="83086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No emotion detection; not optimized for live VOIP.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934113" y="2735046"/>
            <a:ext cx="1904702" cy="49404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Behavioral Analysis + Mobile Verification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8625" y="3377096"/>
            <a:ext cx="5410191" cy="790054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26" name="Text 23"/>
          <p:cNvSpPr/>
          <p:nvPr/>
        </p:nvSpPr>
        <p:spPr>
          <a:xfrm>
            <a:off x="428625" y="3606757"/>
            <a:ext cx="1079181" cy="33073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Intel FakeCatcher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507806" y="3523401"/>
            <a:ext cx="1103542" cy="4974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Biological Indicators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611348" y="3358388"/>
            <a:ext cx="1322766" cy="82747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Requires high-quality video and high-performance equipment.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934113" y="3525100"/>
            <a:ext cx="1904702" cy="49404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Platform-Agnostic + Works under typical conditions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28625" y="4167150"/>
            <a:ext cx="5410191" cy="793626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31" name="Shape 28"/>
          <p:cNvSpPr/>
          <p:nvPr/>
        </p:nvSpPr>
        <p:spPr>
          <a:xfrm>
            <a:off x="428625" y="4167150"/>
            <a:ext cx="1079181" cy="7936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32" name="Shape 29"/>
          <p:cNvSpPr/>
          <p:nvPr/>
        </p:nvSpPr>
        <p:spPr>
          <a:xfrm>
            <a:off x="428625" y="4946489"/>
            <a:ext cx="1079181" cy="1428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33" name="Text 30"/>
          <p:cNvSpPr/>
          <p:nvPr/>
        </p:nvSpPr>
        <p:spPr>
          <a:xfrm>
            <a:off x="428625" y="4400296"/>
            <a:ext cx="1079181" cy="3273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RealSync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507806" y="4167150"/>
            <a:ext cx="1103542" cy="7936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35" name="Shape 32"/>
          <p:cNvSpPr/>
          <p:nvPr/>
        </p:nvSpPr>
        <p:spPr>
          <a:xfrm>
            <a:off x="1507806" y="4946489"/>
            <a:ext cx="1103542" cy="1428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36" name="Text 33"/>
          <p:cNvSpPr/>
          <p:nvPr/>
        </p:nvSpPr>
        <p:spPr>
          <a:xfrm>
            <a:off x="1507806" y="4318607"/>
            <a:ext cx="1103542" cy="49071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Real-Time Multi-Modal Detection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611348" y="4167150"/>
            <a:ext cx="1322766" cy="7936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38" name="Shape 35"/>
          <p:cNvSpPr/>
          <p:nvPr/>
        </p:nvSpPr>
        <p:spPr>
          <a:xfrm>
            <a:off x="2611348" y="4946489"/>
            <a:ext cx="1322766" cy="1428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39" name="Text 36"/>
          <p:cNvSpPr/>
          <p:nvPr/>
        </p:nvSpPr>
        <p:spPr>
          <a:xfrm>
            <a:off x="2611348" y="4233584"/>
            <a:ext cx="1322766" cy="66075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Enterprise-grade, production-ready solution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934113" y="4167150"/>
            <a:ext cx="1904702" cy="7936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41" name="Shape 38"/>
          <p:cNvSpPr/>
          <p:nvPr/>
        </p:nvSpPr>
        <p:spPr>
          <a:xfrm>
            <a:off x="3934113" y="4946489"/>
            <a:ext cx="1904702" cy="1428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AE" sz="2400"/>
          </a:p>
        </p:txBody>
      </p:sp>
      <p:sp>
        <p:nvSpPr>
          <p:cNvPr id="42" name="Text 39"/>
          <p:cNvSpPr/>
          <p:nvPr/>
        </p:nvSpPr>
        <p:spPr>
          <a:xfrm>
            <a:off x="3934113" y="4235251"/>
            <a:ext cx="1904702" cy="65742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Only solution combining real-time, multi-modal analysis with seamless VOIP integration</a:t>
            </a:r>
            <a:endParaRPr lang="en-US" sz="9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306106" y="1520884"/>
            <a:ext cx="2443163" cy="2728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5303568" cy="364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0D4FF"/>
                </a:solidFill>
              </a:rPr>
              <a:t>Multi-Layered Security Architecture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14363" y="1344811"/>
            <a:ext cx="51020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kern="0" spc="2" dirty="0">
                <a:solidFill>
                  <a:srgbClr val="3B82F6"/>
                </a:solidFill>
              </a:rPr>
              <a:t>LAYER 01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4363" y="1627882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591270"/>
            <a:ext cx="1177053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D4FF"/>
                </a:solidFill>
              </a:rPr>
              <a:t>Capture Layer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14363" y="2293144"/>
            <a:ext cx="2247881" cy="97667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Utilizes a local companion app to securely intercept and normalize media streams via WebRTC and platform-specific APIs.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48031" y="1344811"/>
            <a:ext cx="51020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kern="0" spc="2" dirty="0">
                <a:solidFill>
                  <a:srgbClr val="3B82F6"/>
                </a:solidFill>
              </a:rPr>
              <a:t>LAYER 02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48031" y="1627882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55213" y="1591270"/>
            <a:ext cx="1127616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D4FF"/>
                </a:solidFill>
              </a:rPr>
              <a:t>AI Processing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448031" y="2293144"/>
            <a:ext cx="2247909" cy="97667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Parallel audio/video artifacts, behavioral, and emotional consistency patterns analysis using specialized neural networks.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81728" y="1344811"/>
            <a:ext cx="51020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kern="0" spc="2" dirty="0">
                <a:solidFill>
                  <a:srgbClr val="3B82F6"/>
                </a:solidFill>
              </a:rPr>
              <a:t>LAYER 03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281728" y="1591270"/>
            <a:ext cx="1484381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D4FF"/>
                </a:solidFill>
              </a:rPr>
              <a:t>Fusion &amp; Security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81728" y="2293144"/>
            <a:ext cx="2247881" cy="97667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A weighted fusion module calculates the unified Trust Score, protected by TLS encryption and GDPR-compliant cloud processing.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4498860" cy="364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0D4FF"/>
                </a:solidFill>
              </a:rPr>
              <a:t>Seamless Real-Time Workflow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416781" cy="416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B82F6"/>
                </a:solidFill>
              </a:rPr>
              <a:t>01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28625" y="1660922"/>
            <a:ext cx="996235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</a:rPr>
              <a:t>Stream Capture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2096691"/>
            <a:ext cx="1964531" cy="88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The local companion app securely intercepts live WebRTC media streams from the VOIP calling app with zero disruption to the meeting experience.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536031" y="1123355"/>
            <a:ext cx="416781" cy="416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B82F6"/>
                </a:solidFill>
              </a:rPr>
              <a:t>02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536031" y="1660922"/>
            <a:ext cx="1029769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</a:rPr>
              <a:t>Parallel Analysis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36031" y="2096691"/>
            <a:ext cx="1964531" cy="88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Media segments are dispatched to specialized AI engines for simultaneous audio, video, and behavioral artifact detection in the cloud.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43438" y="1123355"/>
            <a:ext cx="416781" cy="416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B82F6"/>
                </a:solidFill>
              </a:rPr>
              <a:t>03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643438" y="1660922"/>
            <a:ext cx="774251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</a:rPr>
              <a:t>Trust Fusion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43438" y="2096691"/>
            <a:ext cx="1964531" cy="703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Individual engine confidence scores are processed by a weighted fusion module to calculate a unified, real-time Trust Score (0-100).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750844" y="1123355"/>
            <a:ext cx="416781" cy="416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B82F6"/>
                </a:solidFill>
              </a:rPr>
              <a:t>04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750844" y="1660922"/>
            <a:ext cx="992451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</a:rPr>
              <a:t>Instant Alerting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50844" y="2096691"/>
            <a:ext cx="1964531" cy="703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If the Trust Score falls below the safety threshold, a non-intrusive alert is triggered on the dashboard for immediate threat mitigation.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0" y="3639741"/>
            <a:ext cx="914400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4"/>
          <p:cNvSpPr/>
          <p:nvPr/>
        </p:nvSpPr>
        <p:spPr>
          <a:xfrm>
            <a:off x="0" y="3639741"/>
            <a:ext cx="9144000" cy="7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1000125" y="3854053"/>
            <a:ext cx="7143750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i="1" dirty="0">
                <a:solidFill>
                  <a:srgbClr val="00D4FF"/>
                </a:solidFill>
              </a:rPr>
              <a:t>"RealSync ensures end-to-end verification with minimal latency, providing a seamless layer of trust for every virtual interaction."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7071744" cy="377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00D4FF"/>
                </a:solidFill>
              </a:rPr>
              <a:t>Intuitive &amp; Non-Intrusive User Experience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8625" y="987623"/>
            <a:ext cx="8286750" cy="214312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8625" y="3440609"/>
            <a:ext cx="225028" cy="2000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60809" y="3442625"/>
            <a:ext cx="1821909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Real-Time Dashboard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428625" y="3893344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A centralized command center providing live monitoring of all meeting participants with individual, dynamic trust scores.</a:t>
            </a:r>
            <a:endParaRPr lang="en-US" sz="11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86125" y="3440609"/>
            <a:ext cx="200025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593306" y="3442625"/>
            <a:ext cx="1716175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Non-Intrusive Alerts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3286125" y="3893344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Visual indicators and notifications that flag anomalies without disrupting the natural flow of the virtual meeting.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43625" y="3440609"/>
            <a:ext cx="175022" cy="2000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27867" y="3454980"/>
            <a:ext cx="1590372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B82F6"/>
                </a:solidFill>
              </a:rPr>
              <a:t>Forensic Reporting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143625" y="3893344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Detailed post-meeting analytics including audit trails, confidence metrics, and anomaly logs for compliance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98B4-FF53-3C6A-15C1-811F0361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BDADA30-799C-5319-F4B7-3C9A5E75D4DD}"/>
              </a:ext>
            </a:extLst>
          </p:cNvPr>
          <p:cNvPicPr>
            <a:picLocks noChangeAspect="1"/>
          </p:cNvPicPr>
          <p:nvPr/>
        </p:nvPicPr>
        <p:blipFill>
          <a:blip/>
          <a:srcRect t="73719"/>
          <a:stretch>
            <a:fillRect/>
          </a:stretch>
        </p:blipFill>
        <p:spPr>
          <a:xfrm>
            <a:off x="0" y="-109728"/>
            <a:ext cx="9144000" cy="52532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24A2F5-0849-5224-C8C7-12789CC64171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78451" y="638648"/>
            <a:ext cx="4634669" cy="4134427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D8603884-E3D8-EB59-0BB6-51C087BB7CAD}"/>
              </a:ext>
            </a:extLst>
          </p:cNvPr>
          <p:cNvSpPr/>
          <p:nvPr/>
        </p:nvSpPr>
        <p:spPr>
          <a:xfrm>
            <a:off x="127219" y="40920"/>
            <a:ext cx="2674643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D4FF"/>
                </a:solidFill>
              </a:rPr>
              <a:t>system context diagram</a:t>
            </a:r>
            <a:endParaRPr lang="en-US" sz="2121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63382C83-F90F-1B05-E887-87DE583B40F5}"/>
              </a:ext>
            </a:extLst>
          </p:cNvPr>
          <p:cNvSpPr/>
          <p:nvPr/>
        </p:nvSpPr>
        <p:spPr>
          <a:xfrm>
            <a:off x="4889107" y="34166"/>
            <a:ext cx="3270767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D4FF"/>
                </a:solidFill>
              </a:rPr>
              <a:t>System Architecture Diagram</a:t>
            </a:r>
            <a:endParaRPr lang="en-US" sz="212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53C601A-05B2-7ECE-B873-25BD20B8171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89107" y="660366"/>
            <a:ext cx="412767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1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rcRect t="-1" b="405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93209" y="428625"/>
            <a:ext cx="5586209" cy="443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4000" b="1" kern="0" spc="2" dirty="0">
                <a:solidFill>
                  <a:srgbClr val="00D4FF"/>
                </a:solidFill>
              </a:rPr>
              <a:t>The Innovation Labs Team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4375" y="1780580"/>
            <a:ext cx="742950" cy="742950"/>
          </a:xfrm>
          <a:prstGeom prst="rect">
            <a:avLst/>
          </a:prstGeom>
          <a:solidFill>
            <a:srgbClr val="3B82F6">
              <a:alpha val="10000"/>
            </a:srgbClr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0834" y="1994892"/>
            <a:ext cx="25003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460" y="2637830"/>
            <a:ext cx="1256755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Ahmed Sarhan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85750" y="2923580"/>
            <a:ext cx="1600200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kern="0" spc="1" dirty="0">
                <a:solidFill>
                  <a:srgbClr val="3B82F6"/>
                </a:solidFill>
              </a:rPr>
              <a:t>Project Lead &amp; AI Developer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457450" y="1780580"/>
            <a:ext cx="742950" cy="742950"/>
          </a:xfrm>
          <a:prstGeom prst="rect">
            <a:avLst/>
          </a:prstGeom>
          <a:solidFill>
            <a:srgbClr val="3B82F6">
              <a:alpha val="10000"/>
            </a:srgbClr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686050" y="1994892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27612" y="2637830"/>
            <a:ext cx="1402628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Mohamed Ghazi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028825" y="2923580"/>
            <a:ext cx="1600200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kern="0" spc="1" dirty="0">
                <a:solidFill>
                  <a:srgbClr val="3B82F6"/>
                </a:solidFill>
              </a:rPr>
              <a:t>Cybersecurity &amp; Audio AI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200525" y="1780580"/>
            <a:ext cx="742950" cy="742950"/>
          </a:xfrm>
          <a:prstGeom prst="rect">
            <a:avLst/>
          </a:prstGeom>
          <a:solidFill>
            <a:srgbClr val="3B82F6">
              <a:alpha val="10000"/>
            </a:srgbClr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11266" y="1994892"/>
            <a:ext cx="321469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26067" y="2637830"/>
            <a:ext cx="1091838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Yousef Kanjo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858792" y="2923580"/>
            <a:ext cx="1426417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kern="0" spc="1" dirty="0">
                <a:solidFill>
                  <a:srgbClr val="3B82F6"/>
                </a:solidFill>
              </a:rPr>
              <a:t>AI/ML Developer (Video)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943600" y="1780580"/>
            <a:ext cx="742950" cy="742950"/>
          </a:xfrm>
          <a:prstGeom prst="rect">
            <a:avLst/>
          </a:prstGeom>
          <a:solidFill>
            <a:srgbClr val="3B82F6">
              <a:alpha val="10000"/>
            </a:srgbClr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72200" y="1994892"/>
            <a:ext cx="285750" cy="2857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17356" y="2637830"/>
            <a:ext cx="795411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Aws Diab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514975" y="2923580"/>
            <a:ext cx="1600200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kern="0" spc="1" dirty="0">
                <a:solidFill>
                  <a:srgbClr val="3B82F6"/>
                </a:solidFill>
              </a:rPr>
              <a:t>Backend &amp; Cloud Engineer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7686675" y="1780580"/>
            <a:ext cx="742950" cy="742950"/>
          </a:xfrm>
          <a:prstGeom prst="rect">
            <a:avLst/>
          </a:prstGeom>
          <a:solidFill>
            <a:srgbClr val="3B82F6">
              <a:alpha val="10000"/>
            </a:srgbClr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 sz="320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879556" y="1994892"/>
            <a:ext cx="357188" cy="2857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210386" y="2637830"/>
            <a:ext cx="1695529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Mohammed Atwani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7258050" y="2923580"/>
            <a:ext cx="1600200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kern="0" spc="1" dirty="0">
                <a:solidFill>
                  <a:srgbClr val="3B82F6"/>
                </a:solidFill>
              </a:rPr>
              <a:t>Frontend &amp; Documentation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3511775" y="4682728"/>
            <a:ext cx="212045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kern="0" spc="2" dirty="0">
                <a:solidFill>
                  <a:srgbClr val="E2E8F0"/>
                </a:solidFill>
              </a:rPr>
              <a:t>INNOVATION LABS | JANUARY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5265</TotalTime>
  <Words>747</Words>
  <Application>Microsoft Macintosh PowerPoint</Application>
  <PresentationFormat>On-screen Show (16:9)</PresentationFormat>
  <Paragraphs>119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Hana Abdelrehem (BIA Engin Phys Sci 4Yr (Dubai))</cp:lastModifiedBy>
  <cp:revision>6</cp:revision>
  <dcterms:created xsi:type="dcterms:W3CDTF">2026-01-22T19:41:30Z</dcterms:created>
  <dcterms:modified xsi:type="dcterms:W3CDTF">2026-02-01T13:11:27Z</dcterms:modified>
</cp:coreProperties>
</file>